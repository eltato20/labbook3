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handoutMasterIdLst>
    <p:handoutMasterId r:id="rId14"/>
  </p:handoutMasterIdLst>
  <p:sldIdLst>
    <p:sldId id="256" r:id="rId2"/>
    <p:sldId id="289" r:id="rId3"/>
    <p:sldId id="290" r:id="rId4"/>
    <p:sldId id="296" r:id="rId5"/>
    <p:sldId id="375" r:id="rId6"/>
    <p:sldId id="376" r:id="rId7"/>
    <p:sldId id="377" r:id="rId8"/>
    <p:sldId id="388" r:id="rId9"/>
    <p:sldId id="380" r:id="rId10"/>
    <p:sldId id="381" r:id="rId11"/>
    <p:sldId id="288" r:id="rId1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E4427C-EB93-A743-8EE8-A3523BFC047B}" v="85" dt="2026-05-29T16:53:56.56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54" autoAdjust="0"/>
    <p:restoredTop sz="95033" autoAdjust="0"/>
  </p:normalViewPr>
  <p:slideViewPr>
    <p:cSldViewPr>
      <p:cViewPr varScale="1">
        <p:scale>
          <a:sx n="60" d="100"/>
          <a:sy n="60" d="100"/>
        </p:scale>
        <p:origin x="184" y="119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29/05/2026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29/05/2026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1.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3.sv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Rubén Albarañez Calleja y Ángela Toledo Jovani</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954107"/>
          </a:xfrm>
          <a:prstGeom prst="rect">
            <a:avLst/>
          </a:prstGeom>
          <a:solidFill>
            <a:schemeClr val="bg1">
              <a:lumMod val="95000"/>
            </a:schemeClr>
          </a:solidFill>
          <a:ln w="28575">
            <a:solidFill>
              <a:srgbClr val="E0700D"/>
            </a:solidFill>
          </a:ln>
        </p:spPr>
        <p:txBody>
          <a:bodyPr wrap="square" rtlCol="0">
            <a:spAutoFit/>
          </a:bodyPr>
          <a:lstStyle/>
          <a:p>
            <a:r>
              <a:rPr lang="es-ES" sz="1400" dirty="0"/>
              <a:t>En las gráficas vemos representado el comportamiento ideal de un interferómetro Mach-Zehnder completamente balanceado (</a:t>
            </a:r>
            <a:r>
              <a:rPr lang="es-ES" sz="1400" dirty="0" err="1"/>
              <a:t>dL</a:t>
            </a:r>
            <a:r>
              <a:rPr lang="es-ES" sz="1400" dirty="0"/>
              <a:t> = 0) y equipado con acopladores 50/50. Al no existir diferencia entre las trayectorias ópticas, se produce una interferencia totalmente constructiva en el puerto cruzado (H01 = 1 o 0 dB) y completamente destructiva en el puerto de barra (H00 = 0). Como esta condición se mantiene igual para todas las longitudes de onda, la respuesta espectral permanece constante y uniforme a lo largo de toda la banda analizada.</a:t>
            </a: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pic>
        <p:nvPicPr>
          <p:cNvPr id="8" name="Imagen 7">
            <a:extLst>
              <a:ext uri="{FF2B5EF4-FFF2-40B4-BE49-F238E27FC236}">
                <a16:creationId xmlns:a16="http://schemas.microsoft.com/office/drawing/2014/main" id="{757ED470-6095-9C31-6F7B-BD3CCA766DFB}"/>
              </a:ext>
            </a:extLst>
          </p:cNvPr>
          <p:cNvPicPr>
            <a:picLocks noChangeAspect="1"/>
          </p:cNvPicPr>
          <p:nvPr/>
        </p:nvPicPr>
        <p:blipFill>
          <a:blip r:embed="rId4"/>
          <a:stretch>
            <a:fillRect/>
          </a:stretch>
        </p:blipFill>
        <p:spPr>
          <a:xfrm>
            <a:off x="838200" y="1737887"/>
            <a:ext cx="4759854" cy="2667000"/>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399" y="1556991"/>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dirty="0"/>
              <a:t>HINTS</a:t>
            </a:r>
            <a:r>
              <a:rPr lang="en-US" b="1" dirty="0"/>
              <a:t>: </a:t>
            </a:r>
          </a:p>
          <a:p>
            <a:pPr marL="0" indent="0" algn="just">
              <a:buNone/>
            </a:pPr>
            <a:r>
              <a:rPr lang="en-US" dirty="0" err="1"/>
              <a:t>wvl</a:t>
            </a:r>
            <a:r>
              <a:rPr lang="en-US" dirty="0"/>
              <a:t> [1500-1600] step 0.001</a:t>
            </a:r>
          </a:p>
          <a:p>
            <a:pPr algn="just"/>
            <a:r>
              <a:rPr lang="en-US" dirty="0"/>
              <a:t>dL = </a:t>
            </a:r>
            <a:r>
              <a:rPr lang="en-US" dirty="0">
                <a:latin typeface="Arial" panose="020B0604020202020204" pitchFamily="34" charset="0"/>
                <a:cs typeface="Arial" panose="020B0604020202020204" pitchFamily="34" charset="0"/>
                <a:sym typeface="Wingdings" pitchFamily="2" charset="2"/>
              </a:rPr>
              <a:t>100 µm</a:t>
            </a:r>
            <a:endParaRPr lang="en-US" dirty="0"/>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0C41089-061E-9B39-3904-6F31AFE073B8}"/>
              </a:ext>
            </a:extLst>
          </p:cNvPr>
          <p:cNvSpPr txBox="1"/>
          <p:nvPr/>
        </p:nvSpPr>
        <p:spPr>
          <a:xfrm>
            <a:off x="609441" y="4860334"/>
            <a:ext cx="11199971" cy="1169551"/>
          </a:xfrm>
          <a:prstGeom prst="rect">
            <a:avLst/>
          </a:prstGeom>
          <a:solidFill>
            <a:schemeClr val="bg1">
              <a:lumMod val="95000"/>
            </a:schemeClr>
          </a:solidFill>
          <a:ln w="28575">
            <a:solidFill>
              <a:srgbClr val="E0700D"/>
            </a:solidFill>
          </a:ln>
        </p:spPr>
        <p:txBody>
          <a:bodyPr wrap="square" rtlCol="0">
            <a:spAutoFit/>
          </a:bodyPr>
          <a:lstStyle/>
          <a:p>
            <a:r>
              <a:rPr lang="es-ES" sz="1400" dirty="0"/>
              <a:t>La gráfica representa la respuesta periódica de un interferómetro Mach-Zehnder desbalanceado. Podemos ver que la potencia en los puertos de barra (H00) y cruzado (H01) varía de forma sinusoidal y complementaria con la longitud de onda. Este comportamiento surge por la alternancia entre interferencia constructiva y destructiva, causada por el desfase que introduce la diferencia de longitud óptica entre los dos brazos del interferómetro. La periodicidad de esta respuesta determina el rango espectral libre (FSR), definido como la separación en longitud de onda entre dos máximos o mínimos consecutivos del patrón de interferencia.</a:t>
            </a:r>
          </a:p>
        </p:txBody>
      </p:sp>
      <p:sp>
        <p:nvSpPr>
          <p:cNvPr id="6" name="Rectángulo 5">
            <a:extLst>
              <a:ext uri="{FF2B5EF4-FFF2-40B4-BE49-F238E27FC236}">
                <a16:creationId xmlns:a16="http://schemas.microsoft.com/office/drawing/2014/main" id="{F95B976F-6522-EA3D-1323-5C97E9F88EDF}"/>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pic>
        <p:nvPicPr>
          <p:cNvPr id="8" name="Imagen 7">
            <a:extLst>
              <a:ext uri="{FF2B5EF4-FFF2-40B4-BE49-F238E27FC236}">
                <a16:creationId xmlns:a16="http://schemas.microsoft.com/office/drawing/2014/main" id="{872B1668-670A-44BE-47EA-F41E2DE1442E}"/>
              </a:ext>
            </a:extLst>
          </p:cNvPr>
          <p:cNvPicPr>
            <a:picLocks noChangeAspect="1"/>
          </p:cNvPicPr>
          <p:nvPr/>
        </p:nvPicPr>
        <p:blipFill>
          <a:blip r:embed="rId4"/>
          <a:stretch>
            <a:fillRect/>
          </a:stretch>
        </p:blipFill>
        <p:spPr>
          <a:xfrm>
            <a:off x="885119" y="1653665"/>
            <a:ext cx="4935361" cy="2702251"/>
          </a:xfrm>
          <a:prstGeom prst="rect">
            <a:avLst/>
          </a:prstGeom>
        </p:spPr>
      </p:pic>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169551"/>
          </a:xfrm>
          <a:prstGeom prst="rect">
            <a:avLst/>
          </a:prstGeom>
          <a:solidFill>
            <a:schemeClr val="bg1">
              <a:lumMod val="95000"/>
            </a:schemeClr>
          </a:solidFill>
          <a:ln w="28575">
            <a:solidFill>
              <a:srgbClr val="E0700D"/>
            </a:solidFill>
          </a:ln>
        </p:spPr>
        <p:txBody>
          <a:bodyPr wrap="square" rtlCol="0">
            <a:spAutoFit/>
          </a:bodyPr>
          <a:lstStyle/>
          <a:p>
            <a:r>
              <a:rPr lang="es-ES" sz="1400" dirty="0"/>
              <a:t>A partir de los parámetros establecidos, el código determina la diferencia de longitud de trayectoria necesaria </a:t>
            </a:r>
            <a:r>
              <a:rPr lang="es-ES" sz="1400" dirty="0" err="1"/>
              <a:t>delta_l</a:t>
            </a:r>
            <a:r>
              <a:rPr lang="es-ES" sz="1400" dirty="0"/>
              <a:t> para obtener un FSR de 10 nm alrededor de una longitud de onda central de 1550 nm, considerando un índice de grupo igual a 2. Se requiere un desbalance de trayectoria de </a:t>
            </a:r>
            <a:r>
              <a:rPr lang="es-ES" sz="1400" dirty="0" err="1"/>
              <a:t>delta_l</a:t>
            </a:r>
            <a:r>
              <a:rPr lang="es-ES" sz="1400" dirty="0"/>
              <a:t> = 120.25 </a:t>
            </a:r>
            <a:r>
              <a:rPr lang="es-ES" sz="1400" dirty="0" err="1"/>
              <a:t>um</a:t>
            </a:r>
            <a:r>
              <a:rPr lang="es-ES" sz="1400" dirty="0"/>
              <a:t>. Utilizando este valor, se generan las simulaciones de la respuesta espectral del interferómetro Mach-Zehnder. Los resultados muestran que los puertos de barra (H00) y cruzado (H01) presentan una respuesta periódica bien definida, donde los máximos y mínimos aparecen separados por 10 nm. Esta separación coincide con el FSR diseñado, confirmando la validez del cálculo realizado.</a:t>
            </a: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305711" y="2494307"/>
            <a:ext cx="2494977" cy="1015663"/>
          </a:xfrm>
          <a:prstGeom prst="rect">
            <a:avLst/>
          </a:prstGeom>
          <a:noFill/>
        </p:spPr>
        <p:txBody>
          <a:bodyPr wrap="none" rtlCol="0">
            <a:spAutoFit/>
          </a:bodyPr>
          <a:lstStyle/>
          <a:p>
            <a:pPr algn="ctr"/>
            <a:r>
              <a:rPr lang="es-ES" sz="2000" dirty="0"/>
              <a:t>MZI transfer </a:t>
            </a:r>
            <a:r>
              <a:rPr lang="es-ES" sz="2000" dirty="0" err="1"/>
              <a:t>functions</a:t>
            </a:r>
            <a:endParaRPr lang="en-US" sz="2000" dirty="0"/>
          </a:p>
          <a:p>
            <a:pPr algn="ctr"/>
            <a:endParaRPr lang="en-US" sz="2000" dirty="0"/>
          </a:p>
          <a:p>
            <a:pPr algn="ctr"/>
            <a:r>
              <a:rPr lang="en-US" sz="2000" dirty="0"/>
              <a:t>Paste plot here</a:t>
            </a:r>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dirty="0">
                <a:solidFill>
                  <a:schemeClr val="tx1"/>
                </a:solidFill>
                <a:latin typeface="Arial" panose="020B0604020202020204" pitchFamily="34" charset="0"/>
                <a:cs typeface="Arial" panose="020B0604020202020204" pitchFamily="34" charset="0"/>
              </a:rPr>
              <a:t>Hints:</a:t>
            </a:r>
            <a:endParaRPr lang="en-US" dirty="0">
              <a:solidFill>
                <a:schemeClr val="tx1"/>
              </a:solidFill>
              <a:latin typeface="Arial" panose="020B0604020202020204" pitchFamily="34" charset="0"/>
              <a:cs typeface="Arial" panose="020B0604020202020204" pitchFamily="34" charset="0"/>
            </a:endParaRPr>
          </a:p>
          <a:p>
            <a:pPr algn="just"/>
            <a:r>
              <a:rPr lang="en-US" dirty="0" err="1">
                <a:solidFill>
                  <a:schemeClr val="tx1"/>
                </a:solidFill>
                <a:latin typeface="Arial" panose="020B0604020202020204" pitchFamily="34" charset="0"/>
                <a:cs typeface="Arial" panose="020B0604020202020204" pitchFamily="34" charset="0"/>
                <a:sym typeface="Wingdings" pitchFamily="2" charset="2"/>
              </a:rPr>
              <a:t>wvl</a:t>
            </a:r>
            <a:r>
              <a:rPr lang="en-US"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dL = ? µm </a:t>
            </a:r>
            <a:r>
              <a:rPr lang="en-US" b="1" dirty="0">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Ka = </a:t>
            </a:r>
            <a:r>
              <a:rPr lang="en-US" dirty="0" err="1">
                <a:solidFill>
                  <a:schemeClr val="tx1"/>
                </a:solidFill>
                <a:latin typeface="Arial" panose="020B0604020202020204" pitchFamily="34" charset="0"/>
                <a:cs typeface="Arial" panose="020B0604020202020204" pitchFamily="34" charset="0"/>
                <a:sym typeface="Wingdings" pitchFamily="2" charset="2"/>
              </a:rPr>
              <a:t>Kb</a:t>
            </a:r>
            <a:r>
              <a:rPr lang="en-US" dirty="0">
                <a:solidFill>
                  <a:schemeClr val="tx1"/>
                </a:solidFill>
                <a:latin typeface="Arial" panose="020B0604020202020204" pitchFamily="34" charset="0"/>
                <a:cs typeface="Arial" panose="020B0604020202020204" pitchFamily="34" charset="0"/>
                <a:sym typeface="Wingdings" pitchFamily="2" charset="2"/>
              </a:rPr>
              <a:t> = 0.5 for all </a:t>
            </a:r>
            <a:r>
              <a:rPr lang="en-US" dirty="0" err="1">
                <a:solidFill>
                  <a:schemeClr val="tx1"/>
                </a:solidFill>
                <a:latin typeface="Arial" panose="020B0604020202020204" pitchFamily="34" charset="0"/>
                <a:cs typeface="Arial" panose="020B0604020202020204" pitchFamily="34" charset="0"/>
                <a:sym typeface="Wingdings" pitchFamily="2" charset="2"/>
              </a:rPr>
              <a:t>wvl</a:t>
            </a:r>
            <a:endParaRPr lang="en-US"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p:pic>
        <p:nvPicPr>
          <p:cNvPr id="2" name="Imagen 1">
            <a:extLst>
              <a:ext uri="{FF2B5EF4-FFF2-40B4-BE49-F238E27FC236}">
                <a16:creationId xmlns:a16="http://schemas.microsoft.com/office/drawing/2014/main" id="{02879402-788F-7571-4487-0923B932C7E1}"/>
              </a:ext>
            </a:extLst>
          </p:cNvPr>
          <p:cNvPicPr>
            <a:picLocks noChangeAspect="1"/>
          </p:cNvPicPr>
          <p:nvPr/>
        </p:nvPicPr>
        <p:blipFill>
          <a:blip r:embed="rId3"/>
          <a:stretch>
            <a:fillRect/>
          </a:stretch>
        </p:blipFill>
        <p:spPr>
          <a:xfrm>
            <a:off x="4827546" y="1693272"/>
            <a:ext cx="3510815" cy="2772662"/>
          </a:xfrm>
          <a:prstGeom prst="rect">
            <a:avLst/>
          </a:prstGeom>
        </p:spPr>
      </p:pic>
      <p:sp>
        <p:nvSpPr>
          <p:cNvPr id="9" name="CuadroTexto 8">
            <a:extLst>
              <a:ext uri="{FF2B5EF4-FFF2-40B4-BE49-F238E27FC236}">
                <a16:creationId xmlns:a16="http://schemas.microsoft.com/office/drawing/2014/main" id="{10FC1A3A-EB1A-B8D1-799B-18AEAE64FB73}"/>
              </a:ext>
            </a:extLst>
          </p:cNvPr>
          <p:cNvSpPr txBox="1"/>
          <p:nvPr/>
        </p:nvSpPr>
        <p:spPr>
          <a:xfrm>
            <a:off x="713993" y="1812925"/>
            <a:ext cx="3604073" cy="2308324"/>
          </a:xfrm>
          <a:prstGeom prst="rect">
            <a:avLst/>
          </a:prstGeom>
          <a:noFill/>
        </p:spPr>
        <p:txBody>
          <a:bodyPr wrap="square">
            <a:spAutoFit/>
          </a:bodyPr>
          <a:lstStyle/>
          <a:p>
            <a:r>
              <a:rPr lang="es-ES" sz="1800" i="1" dirty="0"/>
              <a:t>FSR = </a:t>
            </a:r>
            <a:r>
              <a:rPr lang="el-GR" sz="1800" i="1" dirty="0"/>
              <a:t>λ²/(</a:t>
            </a:r>
            <a:r>
              <a:rPr lang="es-ES" sz="1800" i="1" dirty="0"/>
              <a:t>ng × </a:t>
            </a:r>
            <a:r>
              <a:rPr lang="el-GR" sz="1800" i="1" dirty="0"/>
              <a:t>Δ</a:t>
            </a:r>
            <a:r>
              <a:rPr lang="es-ES" sz="1800" i="1" dirty="0"/>
              <a:t>L)</a:t>
            </a:r>
          </a:p>
          <a:p>
            <a:endParaRPr lang="es-ES" sz="1800" dirty="0"/>
          </a:p>
          <a:p>
            <a:r>
              <a:rPr lang="el-GR" sz="1800" i="1" dirty="0"/>
              <a:t>Δ</a:t>
            </a:r>
            <a:r>
              <a:rPr lang="es-ES" sz="1800" i="1" dirty="0"/>
              <a:t>L = </a:t>
            </a:r>
            <a:r>
              <a:rPr lang="el-GR" sz="1800" i="1" dirty="0"/>
              <a:t>λ²/(</a:t>
            </a:r>
            <a:r>
              <a:rPr lang="es-ES" sz="1800" i="1" dirty="0"/>
              <a:t>ng × FSR) = 1.55²/(2.0 × 0.010) = 2.4025/0.02 = 120.25 </a:t>
            </a:r>
            <a:r>
              <a:rPr lang="es-ES" sz="1800" i="1" dirty="0" err="1"/>
              <a:t>um</a:t>
            </a:r>
            <a:endParaRPr lang="es-ES" sz="1800" i="1" dirty="0"/>
          </a:p>
          <a:p>
            <a:endParaRPr lang="es-ES" sz="1800" dirty="0"/>
          </a:p>
          <a:p>
            <a:r>
              <a:rPr lang="es-ES" sz="1800" i="1" dirty="0"/>
              <a:t>Con ng = 2.0, </a:t>
            </a:r>
            <a:r>
              <a:rPr lang="el-GR" sz="1800" i="1" dirty="0"/>
              <a:t>λ = 1.55 </a:t>
            </a:r>
            <a:r>
              <a:rPr lang="es-ES" i="1" dirty="0" err="1"/>
              <a:t>um</a:t>
            </a:r>
            <a:r>
              <a:rPr lang="es-ES" sz="1800" i="1" dirty="0"/>
              <a:t> y FSR objetivo = 10 nm obtenemos </a:t>
            </a:r>
            <a:endParaRPr lang="es-ES" i="1" dirty="0"/>
          </a:p>
          <a:p>
            <a:r>
              <a:rPr lang="el-GR" sz="1800" i="1" dirty="0"/>
              <a:t>Δ</a:t>
            </a:r>
            <a:r>
              <a:rPr lang="es-ES" sz="1800" i="1" dirty="0"/>
              <a:t>L = 120.25 </a:t>
            </a:r>
            <a:r>
              <a:rPr lang="es-ES" i="1" dirty="0" err="1"/>
              <a:t>um</a:t>
            </a:r>
            <a:endParaRPr lang="es-ES" sz="1800" dirty="0"/>
          </a:p>
        </p:txBody>
      </p:sp>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609441" y="4860334"/>
            <a:ext cx="11199971" cy="954107"/>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Caso 1: Con (Ka = Kb = 0.5) se mantiene un patrón de interferencia visible, aunque con un contraste reducido debido a las pérdidas del brazo largo, obteniéndose ER=2,3 dB. </a:t>
            </a:r>
          </a:p>
          <a:p>
            <a:pPr algn="just"/>
            <a:r>
              <a:rPr lang="es-ES" sz="1400" dirty="0"/>
              <a:t>Caso 2: Cuando (Ka = 0.1) y (Kb = 0.5), el desequilibrio entre ambos brazos elimina prácticamente la interferencia, obteniendo ER=0 dB. </a:t>
            </a:r>
          </a:p>
          <a:p>
            <a:pPr algn="just"/>
            <a:r>
              <a:rPr lang="es-ES" sz="1400" dirty="0"/>
              <a:t>EXTRA: Para compensar las pérdidas del brazo largo (22,4 dB), sería necesario ajustar </a:t>
            </a:r>
            <a:r>
              <a:rPr lang="es-ES" sz="1400"/>
              <a:t>(Ka</a:t>
            </a:r>
            <a:r>
              <a:rPr lang="es-ES" sz="1400" dirty="0"/>
              <a:t>) a un valor aproximado de 0,076.</a:t>
            </a:r>
          </a:p>
        </p:txBody>
      </p:sp>
      <p:sp>
        <p:nvSpPr>
          <p:cNvPr id="4" name="Rectángulo 3">
            <a:extLst>
              <a:ext uri="{FF2B5EF4-FFF2-40B4-BE49-F238E27FC236}">
                <a16:creationId xmlns:a16="http://schemas.microsoft.com/office/drawing/2014/main" id="{FDBAE930-4EE5-671B-4DE7-6BC60C48E7C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2</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EF71FD03-8141-88A1-69BA-49588EB48896}"/>
              </a:ext>
            </a:extLst>
          </p:cNvPr>
          <p:cNvSpPr txBox="1"/>
          <p:nvPr/>
        </p:nvSpPr>
        <p:spPr>
          <a:xfrm>
            <a:off x="1690195" y="2494306"/>
            <a:ext cx="3171061" cy="1154162"/>
          </a:xfrm>
          <a:prstGeom prst="rect">
            <a:avLst/>
          </a:prstGeom>
          <a:noFill/>
        </p:spPr>
        <p:txBody>
          <a:bodyPr wrap="none" rtlCol="0">
            <a:spAutoFit/>
          </a:bodyPr>
          <a:lstStyle/>
          <a:p>
            <a:pPr algn="ctr"/>
            <a:r>
              <a:rPr lang="es-ES" dirty="0"/>
              <a:t>MZI transfer </a:t>
            </a:r>
            <a:r>
              <a:rPr lang="es-ES" dirty="0" err="1"/>
              <a:t>functions</a:t>
            </a:r>
            <a:endParaRPr lang="en-US" dirty="0"/>
          </a:p>
          <a:p>
            <a:pPr algn="ctr"/>
            <a:endParaRPr lang="en-US" dirty="0"/>
          </a:p>
          <a:p>
            <a:pPr algn="ctr"/>
            <a:r>
              <a:rPr lang="en-US" dirty="0"/>
              <a:t>Paste plot here</a:t>
            </a:r>
          </a:p>
        </p:txBody>
      </p:sp>
      <p:pic>
        <p:nvPicPr>
          <p:cNvPr id="3" name="Imagen 2">
            <a:extLst>
              <a:ext uri="{FF2B5EF4-FFF2-40B4-BE49-F238E27FC236}">
                <a16:creationId xmlns:a16="http://schemas.microsoft.com/office/drawing/2014/main" id="{FAEA08EA-2688-C22B-D380-B7D4E73BE198}"/>
              </a:ext>
            </a:extLst>
          </p:cNvPr>
          <p:cNvPicPr>
            <a:picLocks noChangeAspect="1"/>
          </p:cNvPicPr>
          <p:nvPr/>
        </p:nvPicPr>
        <p:blipFill>
          <a:blip r:embed="rId3"/>
          <a:stretch>
            <a:fillRect/>
          </a:stretch>
        </p:blipFill>
        <p:spPr>
          <a:xfrm>
            <a:off x="943490" y="1595006"/>
            <a:ext cx="4664471" cy="2846118"/>
          </a:xfrm>
          <a:prstGeom prst="rect">
            <a:avLst/>
          </a:prstGeom>
        </p:spPr>
      </p:pic>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7</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830997"/>
          </a:xfrm>
          <a:prstGeom prst="rect">
            <a:avLst/>
          </a:prstGeom>
          <a:solidFill>
            <a:schemeClr val="bg1">
              <a:lumMod val="95000"/>
            </a:schemeClr>
          </a:solidFill>
          <a:ln w="28575">
            <a:solidFill>
              <a:srgbClr val="E0700D"/>
            </a:solidFill>
          </a:ln>
        </p:spPr>
        <p:txBody>
          <a:bodyPr wrap="square" rtlCol="0">
            <a:spAutoFit/>
          </a:bodyPr>
          <a:lstStyle/>
          <a:p>
            <a:r>
              <a:rPr lang="es-ES" sz="1200" dirty="0"/>
              <a:t>Las gráficas representan el espectro de transmisión correspondiente al puerto de paso de un resonador de anillo simple. En términos generales, la transmisión se mantiene elevada y prácticamente constante, con valores cercanos a 1 (0 dB) a lo largo de toda la banda analizada. Sin embargo, esta respuesta uniforme presenta caídas pronunciadas y periódicas en determinadas longitudes de onda, que corresponden a las condiciones de resonancia en las que la luz se acopla al anillo y produce interferencia destructiva en la salida.</a:t>
            </a: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761857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p>
          <a:p>
            <a:pPr algn="just"/>
            <a:endParaRPr lang="en-US" sz="1200" b="1"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None </a:t>
            </a:r>
            <a:r>
              <a:rPr lang="en-US" sz="1200" dirty="0">
                <a:solidFill>
                  <a:schemeClr val="tx1"/>
                </a:solidFill>
                <a:latin typeface="Arial" panose="020B0604020202020204" pitchFamily="34" charset="0"/>
                <a:cs typeface="Arial" panose="020B0604020202020204" pitchFamily="34" charset="0"/>
                <a:sym typeface="Wingdings" pitchFamily="2" charset="2"/>
              </a:rPr>
              <a:t> </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5" name="CuadroTexto 14">
            <a:extLst>
              <a:ext uri="{FF2B5EF4-FFF2-40B4-BE49-F238E27FC236}">
                <a16:creationId xmlns:a16="http://schemas.microsoft.com/office/drawing/2014/main" id="{54CF28B4-1346-F41D-2CD8-EA104ABBFB98}"/>
              </a:ext>
            </a:extLst>
          </p:cNvPr>
          <p:cNvSpPr txBox="1"/>
          <p:nvPr/>
        </p:nvSpPr>
        <p:spPr>
          <a:xfrm>
            <a:off x="1499379" y="2478160"/>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n-US" sz="2000" dirty="0"/>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p:pic>
        <p:nvPicPr>
          <p:cNvPr id="4" name="Imagen 3">
            <a:extLst>
              <a:ext uri="{FF2B5EF4-FFF2-40B4-BE49-F238E27FC236}">
                <a16:creationId xmlns:a16="http://schemas.microsoft.com/office/drawing/2014/main" id="{1223C5DD-14D8-BA1E-0EB0-F2C61A224E55}"/>
              </a:ext>
            </a:extLst>
          </p:cNvPr>
          <p:cNvPicPr>
            <a:picLocks noChangeAspect="1"/>
          </p:cNvPicPr>
          <p:nvPr/>
        </p:nvPicPr>
        <p:blipFill>
          <a:blip r:embed="rId3"/>
          <a:stretch>
            <a:fillRect/>
          </a:stretch>
        </p:blipFill>
        <p:spPr>
          <a:xfrm>
            <a:off x="1143000" y="1627556"/>
            <a:ext cx="5181600" cy="2972712"/>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8</a:t>
            </a:fld>
            <a:endParaRPr lang="en-US" dirty="0"/>
          </a:p>
        </p:txBody>
      </p:sp>
      <p:sp>
        <p:nvSpPr>
          <p:cNvPr id="8" name="CuadroTexto 7">
            <a:extLst>
              <a:ext uri="{FF2B5EF4-FFF2-40B4-BE49-F238E27FC236}">
                <a16:creationId xmlns:a16="http://schemas.microsoft.com/office/drawing/2014/main" id="{3BC6D2B9-07F5-E2FA-C9AD-029B63B098DA}"/>
              </a:ext>
            </a:extLst>
          </p:cNvPr>
          <p:cNvSpPr txBox="1"/>
          <p:nvPr/>
        </p:nvSpPr>
        <p:spPr>
          <a:xfrm>
            <a:off x="611029" y="4860335"/>
            <a:ext cx="11199530" cy="1169551"/>
          </a:xfrm>
          <a:prstGeom prst="rect">
            <a:avLst/>
          </a:prstGeom>
          <a:solidFill>
            <a:schemeClr val="bg1">
              <a:lumMod val="95000"/>
            </a:schemeClr>
          </a:solidFill>
          <a:ln w="28575">
            <a:solidFill>
              <a:srgbClr val="E0700D"/>
            </a:solidFill>
          </a:ln>
        </p:spPr>
        <p:txBody>
          <a:bodyPr wrap="square" rtlCol="0">
            <a:spAutoFit/>
          </a:bodyPr>
          <a:lstStyle/>
          <a:p>
            <a:r>
              <a:rPr lang="es-ES" sz="1400" dirty="0"/>
              <a:t>El comportamiento del interferómetro Mach-Zehnder depende en gran medida de las características de sus acopladores. El mayor contraste y la máxima relación de extinción (ER), calculada en el código mostrado posteriormente, se obtienen cuando ambos acopladores distribuyen la potencia de manera uniforme, es decir, con una relación 50:50. Esta condición ideal, denominada acoplamiento crítico, se alcanza con brazos perfectamente balanceados y favorece una interferencia destructiva casi total, lo que maximiza la diferencia de potencia entre las dos salidas. Cualquier desviación respecto a esta división equitativa reduce el contraste y deteriora el desempeño del dispositivo.</a:t>
            </a:r>
          </a:p>
        </p:txBody>
      </p:sp>
      <p:sp>
        <p:nvSpPr>
          <p:cNvPr id="3" name="Rectángulo 2">
            <a:extLst>
              <a:ext uri="{FF2B5EF4-FFF2-40B4-BE49-F238E27FC236}">
                <a16:creationId xmlns:a16="http://schemas.microsoft.com/office/drawing/2014/main" id="{E54DA3AC-DFE0-BB51-7C71-7CD9087359D0}"/>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Design the perimeter for a FSR = 15 nm. </a:t>
            </a: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Use equations given in class that relate FSR and perimeter.</a:t>
            </a: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0" name="Rectángulo 9">
            <a:extLst>
              <a:ext uri="{FF2B5EF4-FFF2-40B4-BE49-F238E27FC236}">
                <a16:creationId xmlns:a16="http://schemas.microsoft.com/office/drawing/2014/main" id="{82011495-88D4-8787-6CB7-704897D84CF9}"/>
              </a:ext>
            </a:extLst>
          </p:cNvPr>
          <p:cNvSpPr/>
          <p:nvPr/>
        </p:nvSpPr>
        <p:spPr>
          <a:xfrm>
            <a:off x="611030" y="1418373"/>
            <a:ext cx="754237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B49B3613-E785-3FCB-DA8D-2B43EB104C5D}"/>
              </a:ext>
            </a:extLst>
          </p:cNvPr>
          <p:cNvSpPr txBox="1"/>
          <p:nvPr/>
        </p:nvSpPr>
        <p:spPr>
          <a:xfrm>
            <a:off x="1499379" y="2478160"/>
            <a:ext cx="2033313" cy="1323439"/>
          </a:xfrm>
          <a:prstGeom prst="rect">
            <a:avLst/>
          </a:prstGeom>
          <a:noFill/>
        </p:spPr>
        <p:txBody>
          <a:bodyPr wrap="none" rtlCol="0">
            <a:spAutoFit/>
          </a:bodyPr>
          <a:lstStyle/>
          <a:p>
            <a:pPr algn="ctr"/>
            <a:r>
              <a:rPr lang="es-ES" sz="2000" dirty="0"/>
              <a:t>Single ring</a:t>
            </a:r>
          </a:p>
          <a:p>
            <a:pPr algn="ctr"/>
            <a:r>
              <a:rPr lang="es-ES" sz="2000" dirty="0"/>
              <a:t>transfer </a:t>
            </a:r>
            <a:r>
              <a:rPr lang="es-ES" sz="2000" dirty="0" err="1"/>
              <a:t>functions</a:t>
            </a:r>
            <a:endParaRPr lang="es-ES" sz="2000" dirty="0"/>
          </a:p>
          <a:p>
            <a:pPr algn="ctr"/>
            <a:endParaRPr lang="es-ES" sz="2000" dirty="0"/>
          </a:p>
          <a:p>
            <a:pPr algn="ctr"/>
            <a:r>
              <a:rPr lang="es-ES" sz="2000" dirty="0"/>
              <a:t>Linear </a:t>
            </a:r>
            <a:r>
              <a:rPr lang="es-ES" sz="2000" dirty="0" err="1"/>
              <a:t>units</a:t>
            </a:r>
            <a:endParaRPr lang="en-US" sz="2000" dirty="0"/>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pic>
        <p:nvPicPr>
          <p:cNvPr id="2" name="Imagen 1">
            <a:extLst>
              <a:ext uri="{FF2B5EF4-FFF2-40B4-BE49-F238E27FC236}">
                <a16:creationId xmlns:a16="http://schemas.microsoft.com/office/drawing/2014/main" id="{A8AD3646-999D-8E51-E8E4-3A4DE40EA0E3}"/>
              </a:ext>
            </a:extLst>
          </p:cNvPr>
          <p:cNvPicPr>
            <a:picLocks noChangeAspect="1"/>
          </p:cNvPicPr>
          <p:nvPr/>
        </p:nvPicPr>
        <p:blipFill>
          <a:blip r:embed="rId3"/>
          <a:stretch>
            <a:fillRect/>
          </a:stretch>
        </p:blipFill>
        <p:spPr>
          <a:xfrm>
            <a:off x="1074721" y="1576147"/>
            <a:ext cx="5155988" cy="2958017"/>
          </a:xfrm>
          <a:prstGeom prst="rect">
            <a:avLst/>
          </a:prstGeom>
        </p:spPr>
      </p:pic>
    </p:spTree>
    <p:extLst>
      <p:ext uri="{BB962C8B-B14F-4D97-AF65-F5344CB8AC3E}">
        <p14:creationId xmlns:p14="http://schemas.microsoft.com/office/powerpoint/2010/main" val="2915989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9</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2668870" y="4520736"/>
            <a:ext cx="9446930" cy="1600438"/>
          </a:xfrm>
          <a:prstGeom prst="rect">
            <a:avLst/>
          </a:prstGeom>
          <a:solidFill>
            <a:schemeClr val="bg1">
              <a:lumMod val="95000"/>
            </a:schemeClr>
          </a:solidFill>
          <a:ln w="28575">
            <a:solidFill>
              <a:srgbClr val="E0700D"/>
            </a:solidFill>
          </a:ln>
        </p:spPr>
        <p:txBody>
          <a:bodyPr wrap="square" rtlCol="0">
            <a:spAutoFit/>
          </a:bodyPr>
          <a:lstStyle/>
          <a:p>
            <a:r>
              <a:rPr lang="es-ES" sz="1400" dirty="0"/>
              <a:t>Las resonancias pueden ser:</a:t>
            </a:r>
          </a:p>
          <a:p>
            <a:r>
              <a:rPr lang="es-ES" sz="1400" dirty="0"/>
              <a:t>-</a:t>
            </a:r>
            <a:r>
              <a:rPr lang="es-ES" sz="1400" dirty="0" err="1"/>
              <a:t>Subacoplado</a:t>
            </a:r>
            <a:r>
              <a:rPr lang="es-ES" sz="1400" dirty="0"/>
              <a:t> (</a:t>
            </a:r>
            <a:r>
              <a:rPr lang="es-ES" sz="1400" dirty="0" err="1"/>
              <a:t>undercoupling</a:t>
            </a:r>
            <a:r>
              <a:rPr lang="es-ES" sz="1400" dirty="0"/>
              <a:t>), cuando el coeficiente de acoplamiento (K) es bajo y las resonancias son más pronunciadas</a:t>
            </a:r>
          </a:p>
          <a:p>
            <a:r>
              <a:rPr lang="es-ES" sz="1400" dirty="0"/>
              <a:t>-</a:t>
            </a:r>
            <a:r>
              <a:rPr lang="es-ES" sz="1400" dirty="0" err="1"/>
              <a:t>Sobreacoplado</a:t>
            </a:r>
            <a:r>
              <a:rPr lang="es-ES" sz="1400" dirty="0"/>
              <a:t> (</a:t>
            </a:r>
            <a:r>
              <a:rPr lang="es-ES" sz="1400" dirty="0" err="1"/>
              <a:t>overcoupling</a:t>
            </a:r>
            <a:r>
              <a:rPr lang="es-ES" sz="1400" dirty="0"/>
              <a:t>), cuando (K) es elevado y las resonancias se vuelven más superficiales. </a:t>
            </a:r>
          </a:p>
          <a:p>
            <a:endParaRPr lang="es-ES" sz="1400" dirty="0"/>
          </a:p>
          <a:p>
            <a:r>
              <a:rPr lang="es-ES" sz="1400" dirty="0"/>
              <a:t>La condición de acoplamiento crítico se alcanza aproximadamente para K = 0.1, ya que en este punto la transmisión mínima </a:t>
            </a:r>
            <a:r>
              <a:rPr lang="es-ES" sz="1400" dirty="0" err="1"/>
              <a:t>T_min</a:t>
            </a:r>
            <a:r>
              <a:rPr lang="es-ES" sz="1400" dirty="0"/>
              <a:t> se aproxima a cero y la relación de extinción (ER) alcanza su valor máximo. Esto indica que las pérdidas internas del anillo están perfectamente equilibradas con la potencia transferida mediante el acoplamiento.</a:t>
            </a:r>
          </a:p>
        </p:txBody>
      </p:sp>
      <p:sp>
        <p:nvSpPr>
          <p:cNvPr id="12" name="CuadroTexto 11">
            <a:extLst>
              <a:ext uri="{FF2B5EF4-FFF2-40B4-BE49-F238E27FC236}">
                <a16:creationId xmlns:a16="http://schemas.microsoft.com/office/drawing/2014/main" id="{4E78CC89-1377-28A4-024D-1B017D551FC5}"/>
              </a:ext>
            </a:extLst>
          </p:cNvPr>
          <p:cNvSpPr txBox="1"/>
          <p:nvPr/>
        </p:nvSpPr>
        <p:spPr>
          <a:xfrm>
            <a:off x="9869875" y="2871332"/>
            <a:ext cx="360996" cy="400110"/>
          </a:xfrm>
          <a:prstGeom prst="rect">
            <a:avLst/>
          </a:prstGeom>
          <a:noFill/>
        </p:spPr>
        <p:txBody>
          <a:bodyPr wrap="none" rtlCol="0">
            <a:spAutoFit/>
          </a:bodyPr>
          <a:lstStyle/>
          <a:p>
            <a:pPr algn="ctr"/>
            <a:r>
              <a:rPr lang="es-ES" sz="2000" dirty="0"/>
              <a:t>…</a:t>
            </a:r>
            <a:endParaRPr lang="en-US" sz="2000" dirty="0"/>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p>
          <a:p>
            <a:pPr marL="12700">
              <a:spcBef>
                <a:spcPts val="100"/>
              </a:spcBef>
            </a:pPr>
            <a:r>
              <a:rPr lang="en-US" b="0" kern="0" spc="-5" dirty="0">
                <a:latin typeface="+mj-lt"/>
                <a:cs typeface="Lucida Sans"/>
              </a:rPr>
              <a:t>Change K value between 0.1 and 0.9 in steps of 0.1</a:t>
            </a:r>
          </a:p>
        </p:txBody>
      </p:sp>
      <p:pic>
        <p:nvPicPr>
          <p:cNvPr id="2" name="Imagen 1">
            <a:extLst>
              <a:ext uri="{FF2B5EF4-FFF2-40B4-BE49-F238E27FC236}">
                <a16:creationId xmlns:a16="http://schemas.microsoft.com/office/drawing/2014/main" id="{4252CE30-8FCB-F301-9AC2-F0BD4CDE33A7}"/>
              </a:ext>
            </a:extLst>
          </p:cNvPr>
          <p:cNvPicPr>
            <a:picLocks noChangeAspect="1"/>
          </p:cNvPicPr>
          <p:nvPr/>
        </p:nvPicPr>
        <p:blipFill>
          <a:blip r:embed="rId3"/>
          <a:stretch>
            <a:fillRect/>
          </a:stretch>
        </p:blipFill>
        <p:spPr>
          <a:xfrm>
            <a:off x="457201" y="1192651"/>
            <a:ext cx="2743200" cy="1573788"/>
          </a:xfrm>
          <a:prstGeom prst="rect">
            <a:avLst/>
          </a:prstGeom>
        </p:spPr>
      </p:pic>
      <p:pic>
        <p:nvPicPr>
          <p:cNvPr id="4" name="Imagen 3">
            <a:extLst>
              <a:ext uri="{FF2B5EF4-FFF2-40B4-BE49-F238E27FC236}">
                <a16:creationId xmlns:a16="http://schemas.microsoft.com/office/drawing/2014/main" id="{FAD69AF0-2CA7-83C2-37F1-0F1E4295A4BF}"/>
              </a:ext>
            </a:extLst>
          </p:cNvPr>
          <p:cNvPicPr>
            <a:picLocks noChangeAspect="1"/>
          </p:cNvPicPr>
          <p:nvPr/>
        </p:nvPicPr>
        <p:blipFill>
          <a:blip r:embed="rId4"/>
          <a:stretch>
            <a:fillRect/>
          </a:stretch>
        </p:blipFill>
        <p:spPr>
          <a:xfrm>
            <a:off x="3200401" y="1192651"/>
            <a:ext cx="2743200" cy="1573788"/>
          </a:xfrm>
          <a:prstGeom prst="rect">
            <a:avLst/>
          </a:prstGeom>
        </p:spPr>
      </p:pic>
      <p:pic>
        <p:nvPicPr>
          <p:cNvPr id="7" name="Imagen 6">
            <a:extLst>
              <a:ext uri="{FF2B5EF4-FFF2-40B4-BE49-F238E27FC236}">
                <a16:creationId xmlns:a16="http://schemas.microsoft.com/office/drawing/2014/main" id="{6456781E-3AF3-1A2C-A141-9F14BB28A10D}"/>
              </a:ext>
            </a:extLst>
          </p:cNvPr>
          <p:cNvPicPr>
            <a:picLocks noChangeAspect="1"/>
          </p:cNvPicPr>
          <p:nvPr/>
        </p:nvPicPr>
        <p:blipFill>
          <a:blip r:embed="rId5"/>
          <a:stretch>
            <a:fillRect/>
          </a:stretch>
        </p:blipFill>
        <p:spPr>
          <a:xfrm>
            <a:off x="5943600" y="1108878"/>
            <a:ext cx="2743201" cy="1573789"/>
          </a:xfrm>
          <a:prstGeom prst="rect">
            <a:avLst/>
          </a:prstGeom>
        </p:spPr>
      </p:pic>
      <p:pic>
        <p:nvPicPr>
          <p:cNvPr id="17" name="Imagen 16">
            <a:extLst>
              <a:ext uri="{FF2B5EF4-FFF2-40B4-BE49-F238E27FC236}">
                <a16:creationId xmlns:a16="http://schemas.microsoft.com/office/drawing/2014/main" id="{5F0CD5EF-911B-2F1E-8D5F-C02F72BEA43F}"/>
              </a:ext>
            </a:extLst>
          </p:cNvPr>
          <p:cNvPicPr>
            <a:picLocks noChangeAspect="1"/>
          </p:cNvPicPr>
          <p:nvPr/>
        </p:nvPicPr>
        <p:blipFill>
          <a:blip r:embed="rId6"/>
          <a:stretch>
            <a:fillRect/>
          </a:stretch>
        </p:blipFill>
        <p:spPr>
          <a:xfrm>
            <a:off x="8784516" y="1090405"/>
            <a:ext cx="2535169" cy="1454440"/>
          </a:xfrm>
          <a:prstGeom prst="rect">
            <a:avLst/>
          </a:prstGeom>
        </p:spPr>
      </p:pic>
      <p:pic>
        <p:nvPicPr>
          <p:cNvPr id="18" name="Imagen 17">
            <a:extLst>
              <a:ext uri="{FF2B5EF4-FFF2-40B4-BE49-F238E27FC236}">
                <a16:creationId xmlns:a16="http://schemas.microsoft.com/office/drawing/2014/main" id="{376C6624-5BCC-FDD0-6A40-E5744C7490D7}"/>
              </a:ext>
            </a:extLst>
          </p:cNvPr>
          <p:cNvPicPr>
            <a:picLocks noChangeAspect="1"/>
          </p:cNvPicPr>
          <p:nvPr/>
        </p:nvPicPr>
        <p:blipFill>
          <a:blip r:embed="rId7"/>
          <a:stretch>
            <a:fillRect/>
          </a:stretch>
        </p:blipFill>
        <p:spPr>
          <a:xfrm>
            <a:off x="450275" y="2745657"/>
            <a:ext cx="2743200" cy="1573788"/>
          </a:xfrm>
          <a:prstGeom prst="rect">
            <a:avLst/>
          </a:prstGeom>
        </p:spPr>
      </p:pic>
      <p:pic>
        <p:nvPicPr>
          <p:cNvPr id="19" name="Imagen 18">
            <a:extLst>
              <a:ext uri="{FF2B5EF4-FFF2-40B4-BE49-F238E27FC236}">
                <a16:creationId xmlns:a16="http://schemas.microsoft.com/office/drawing/2014/main" id="{D545EB8B-1F1D-BF5E-2592-266B4E32D2AB}"/>
              </a:ext>
            </a:extLst>
          </p:cNvPr>
          <p:cNvPicPr>
            <a:picLocks noChangeAspect="1"/>
          </p:cNvPicPr>
          <p:nvPr/>
        </p:nvPicPr>
        <p:blipFill>
          <a:blip r:embed="rId8"/>
          <a:stretch>
            <a:fillRect/>
          </a:stretch>
        </p:blipFill>
        <p:spPr>
          <a:xfrm>
            <a:off x="3153861" y="2744048"/>
            <a:ext cx="2743199" cy="1573788"/>
          </a:xfrm>
          <a:prstGeom prst="rect">
            <a:avLst/>
          </a:prstGeom>
        </p:spPr>
      </p:pic>
      <p:pic>
        <p:nvPicPr>
          <p:cNvPr id="20" name="Imagen 19">
            <a:extLst>
              <a:ext uri="{FF2B5EF4-FFF2-40B4-BE49-F238E27FC236}">
                <a16:creationId xmlns:a16="http://schemas.microsoft.com/office/drawing/2014/main" id="{40E8A2FF-7664-6201-BE0C-0319AA89A7D9}"/>
              </a:ext>
            </a:extLst>
          </p:cNvPr>
          <p:cNvPicPr>
            <a:picLocks noChangeAspect="1"/>
          </p:cNvPicPr>
          <p:nvPr/>
        </p:nvPicPr>
        <p:blipFill>
          <a:blip r:embed="rId9"/>
          <a:stretch>
            <a:fillRect/>
          </a:stretch>
        </p:blipFill>
        <p:spPr>
          <a:xfrm>
            <a:off x="5927080" y="2744048"/>
            <a:ext cx="2743199" cy="1573788"/>
          </a:xfrm>
          <a:prstGeom prst="rect">
            <a:avLst/>
          </a:prstGeom>
        </p:spPr>
      </p:pic>
      <p:pic>
        <p:nvPicPr>
          <p:cNvPr id="21" name="Imagen 20">
            <a:extLst>
              <a:ext uri="{FF2B5EF4-FFF2-40B4-BE49-F238E27FC236}">
                <a16:creationId xmlns:a16="http://schemas.microsoft.com/office/drawing/2014/main" id="{C88A3CED-D018-61FB-3E58-748EF6DD41F0}"/>
              </a:ext>
            </a:extLst>
          </p:cNvPr>
          <p:cNvPicPr>
            <a:picLocks noChangeAspect="1"/>
          </p:cNvPicPr>
          <p:nvPr/>
        </p:nvPicPr>
        <p:blipFill>
          <a:blip r:embed="rId10"/>
          <a:stretch>
            <a:fillRect/>
          </a:stretch>
        </p:blipFill>
        <p:spPr>
          <a:xfrm>
            <a:off x="8640259" y="2682667"/>
            <a:ext cx="2814322" cy="1614591"/>
          </a:xfrm>
          <a:prstGeom prst="rect">
            <a:avLst/>
          </a:prstGeom>
        </p:spPr>
      </p:pic>
      <p:pic>
        <p:nvPicPr>
          <p:cNvPr id="22" name="Imagen 21">
            <a:extLst>
              <a:ext uri="{FF2B5EF4-FFF2-40B4-BE49-F238E27FC236}">
                <a16:creationId xmlns:a16="http://schemas.microsoft.com/office/drawing/2014/main" id="{59A73247-FAEA-7A5F-4569-A92F7BE990C0}"/>
              </a:ext>
            </a:extLst>
          </p:cNvPr>
          <p:cNvPicPr>
            <a:picLocks noChangeAspect="1"/>
          </p:cNvPicPr>
          <p:nvPr/>
        </p:nvPicPr>
        <p:blipFill>
          <a:blip r:embed="rId11"/>
          <a:stretch>
            <a:fillRect/>
          </a:stretch>
        </p:blipFill>
        <p:spPr>
          <a:xfrm>
            <a:off x="381000" y="4511362"/>
            <a:ext cx="2075685" cy="1190831"/>
          </a:xfrm>
          <a:prstGeom prst="rect">
            <a:avLst/>
          </a:prstGeom>
        </p:spPr>
      </p:pic>
    </p:spTree>
    <p:extLst>
      <p:ext uri="{BB962C8B-B14F-4D97-AF65-F5344CB8AC3E}">
        <p14:creationId xmlns:p14="http://schemas.microsoft.com/office/powerpoint/2010/main" val="193162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10</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09600" y="4552252"/>
            <a:ext cx="11199530" cy="1323439"/>
          </a:xfrm>
          <a:prstGeom prst="rect">
            <a:avLst/>
          </a:prstGeom>
          <a:solidFill>
            <a:schemeClr val="bg1">
              <a:lumMod val="95000"/>
            </a:schemeClr>
          </a:solidFill>
          <a:ln w="28575">
            <a:solidFill>
              <a:srgbClr val="E0700D"/>
            </a:solidFill>
          </a:ln>
        </p:spPr>
        <p:txBody>
          <a:bodyPr wrap="square" rtlCol="0">
            <a:spAutoFit/>
          </a:bodyPr>
          <a:lstStyle/>
          <a:p>
            <a:r>
              <a:rPr lang="es-ES" sz="1600" dirty="0"/>
              <a:t>El aumento de las pérdidas en el anillo reduce progresivamente la profundidad de las resonancias y, en consecuencia, disminuye la relación de extinción (ER). Cuando </a:t>
            </a:r>
            <a:r>
              <a:rPr lang="es-ES" sz="1600" dirty="0" err="1"/>
              <a:t>alpha</a:t>
            </a:r>
            <a:r>
              <a:rPr lang="es-ES" sz="1600" dirty="0"/>
              <a:t> = 0 dB/cm, las resonancias prácticamente no son apreciables. En cambio, para </a:t>
            </a:r>
            <a:r>
              <a:rPr lang="es-ES" sz="1600" dirty="0" err="1"/>
              <a:t>alpha</a:t>
            </a:r>
            <a:r>
              <a:rPr lang="es-ES" sz="1600" dirty="0"/>
              <a:t> = 1dB/cm se observan mínimos de transmisión mucho más marcados, acercándose al acoplamiento crítico, ya que las pérdidas internas se aproximan al coeficiente de acoplamiento (K = 0.025). A medida que las pérdidas continúan aumentando, el resonador se desplaza hacia un régimen de </a:t>
            </a:r>
            <a:r>
              <a:rPr lang="es-ES" sz="1600" dirty="0" err="1"/>
              <a:t>sobreacoplamiento</a:t>
            </a:r>
            <a:r>
              <a:rPr lang="es-ES" sz="1600" dirty="0"/>
              <a:t>, haciendo que las resonancias se vuelvan cada vez menos pronunciadas.</a:t>
            </a:r>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#6b – E</a:t>
            </a:r>
            <a:r>
              <a:rPr lang="en-US" sz="2500" dirty="0"/>
              <a:t>ffect of loss</a:t>
            </a:r>
            <a:endParaRPr lang="en-US" sz="2500" kern="0" dirty="0"/>
          </a:p>
          <a:p>
            <a:pPr marL="12700">
              <a:spcBef>
                <a:spcPts val="100"/>
              </a:spcBef>
            </a:pPr>
            <a:r>
              <a:rPr lang="en-US" b="0" kern="0" spc="-5" dirty="0">
                <a:latin typeface="+mj-lt"/>
                <a:cs typeface="Lucida Sans"/>
              </a:rPr>
              <a:t>Change losses value between 0 and 8 </a:t>
            </a:r>
            <a:r>
              <a:rPr lang="en-US" b="0" kern="0" spc="-5" dirty="0">
                <a:solidFill>
                  <a:srgbClr val="FF0000"/>
                </a:solidFill>
                <a:latin typeface="+mj-lt"/>
                <a:cs typeface="Lucida Sans"/>
              </a:rPr>
              <a:t>dB/cm </a:t>
            </a:r>
            <a:r>
              <a:rPr lang="en-US" b="0" kern="0" spc="-5" dirty="0">
                <a:latin typeface="+mj-lt"/>
                <a:cs typeface="Lucida Sans"/>
              </a:rPr>
              <a:t>in steps of 1</a:t>
            </a:r>
          </a:p>
        </p:txBody>
      </p:sp>
      <p:pic>
        <p:nvPicPr>
          <p:cNvPr id="2" name="Imagen 1">
            <a:extLst>
              <a:ext uri="{FF2B5EF4-FFF2-40B4-BE49-F238E27FC236}">
                <a16:creationId xmlns:a16="http://schemas.microsoft.com/office/drawing/2014/main" id="{BADA3824-CADD-3310-C30C-B978F936CF11}"/>
              </a:ext>
            </a:extLst>
          </p:cNvPr>
          <p:cNvPicPr>
            <a:picLocks noChangeAspect="1"/>
          </p:cNvPicPr>
          <p:nvPr/>
        </p:nvPicPr>
        <p:blipFill>
          <a:blip r:embed="rId3"/>
          <a:stretch>
            <a:fillRect/>
          </a:stretch>
        </p:blipFill>
        <p:spPr>
          <a:xfrm>
            <a:off x="545337" y="1438273"/>
            <a:ext cx="2807463" cy="1610656"/>
          </a:xfrm>
          <a:prstGeom prst="rect">
            <a:avLst/>
          </a:prstGeom>
        </p:spPr>
      </p:pic>
      <p:pic>
        <p:nvPicPr>
          <p:cNvPr id="3" name="Imagen 2">
            <a:extLst>
              <a:ext uri="{FF2B5EF4-FFF2-40B4-BE49-F238E27FC236}">
                <a16:creationId xmlns:a16="http://schemas.microsoft.com/office/drawing/2014/main" id="{E7796604-4C70-24A8-272C-91AF63FD39FF}"/>
              </a:ext>
            </a:extLst>
          </p:cNvPr>
          <p:cNvPicPr>
            <a:picLocks noChangeAspect="1"/>
          </p:cNvPicPr>
          <p:nvPr/>
        </p:nvPicPr>
        <p:blipFill>
          <a:blip r:embed="rId4"/>
          <a:stretch>
            <a:fillRect/>
          </a:stretch>
        </p:blipFill>
        <p:spPr>
          <a:xfrm>
            <a:off x="3274338" y="1427504"/>
            <a:ext cx="2826235" cy="1621425"/>
          </a:xfrm>
          <a:prstGeom prst="rect">
            <a:avLst/>
          </a:prstGeom>
        </p:spPr>
      </p:pic>
      <p:pic>
        <p:nvPicPr>
          <p:cNvPr id="4" name="Imagen 3">
            <a:extLst>
              <a:ext uri="{FF2B5EF4-FFF2-40B4-BE49-F238E27FC236}">
                <a16:creationId xmlns:a16="http://schemas.microsoft.com/office/drawing/2014/main" id="{79C02CBC-CF5A-A2E0-8AD7-4C4C71CB902C}"/>
              </a:ext>
            </a:extLst>
          </p:cNvPr>
          <p:cNvPicPr>
            <a:picLocks noChangeAspect="1"/>
          </p:cNvPicPr>
          <p:nvPr/>
        </p:nvPicPr>
        <p:blipFill>
          <a:blip r:embed="rId5"/>
          <a:stretch>
            <a:fillRect/>
          </a:stretch>
        </p:blipFill>
        <p:spPr>
          <a:xfrm>
            <a:off x="6043500" y="1438273"/>
            <a:ext cx="2685647" cy="1540770"/>
          </a:xfrm>
          <a:prstGeom prst="rect">
            <a:avLst/>
          </a:prstGeom>
        </p:spPr>
      </p:pic>
      <p:pic>
        <p:nvPicPr>
          <p:cNvPr id="7" name="Imagen 6">
            <a:extLst>
              <a:ext uri="{FF2B5EF4-FFF2-40B4-BE49-F238E27FC236}">
                <a16:creationId xmlns:a16="http://schemas.microsoft.com/office/drawing/2014/main" id="{208C56F6-40AE-CE81-F564-0A1D05C99B40}"/>
              </a:ext>
            </a:extLst>
          </p:cNvPr>
          <p:cNvPicPr>
            <a:picLocks noChangeAspect="1"/>
          </p:cNvPicPr>
          <p:nvPr/>
        </p:nvPicPr>
        <p:blipFill>
          <a:blip r:embed="rId6"/>
          <a:stretch>
            <a:fillRect/>
          </a:stretch>
        </p:blipFill>
        <p:spPr>
          <a:xfrm>
            <a:off x="8791272" y="1438273"/>
            <a:ext cx="2685647" cy="1540770"/>
          </a:xfrm>
          <a:prstGeom prst="rect">
            <a:avLst/>
          </a:prstGeom>
        </p:spPr>
      </p:pic>
      <p:pic>
        <p:nvPicPr>
          <p:cNvPr id="19" name="Imagen 18">
            <a:extLst>
              <a:ext uri="{FF2B5EF4-FFF2-40B4-BE49-F238E27FC236}">
                <a16:creationId xmlns:a16="http://schemas.microsoft.com/office/drawing/2014/main" id="{80F44B0B-662C-4482-9E63-C4E0B2FA9130}"/>
              </a:ext>
            </a:extLst>
          </p:cNvPr>
          <p:cNvPicPr>
            <a:picLocks noChangeAspect="1"/>
          </p:cNvPicPr>
          <p:nvPr/>
        </p:nvPicPr>
        <p:blipFill>
          <a:blip r:embed="rId7"/>
          <a:stretch>
            <a:fillRect/>
          </a:stretch>
        </p:blipFill>
        <p:spPr>
          <a:xfrm>
            <a:off x="545337" y="3069972"/>
            <a:ext cx="2290763" cy="1314223"/>
          </a:xfrm>
          <a:prstGeom prst="rect">
            <a:avLst/>
          </a:prstGeom>
        </p:spPr>
      </p:pic>
      <p:pic>
        <p:nvPicPr>
          <p:cNvPr id="20" name="Imagen 19">
            <a:extLst>
              <a:ext uri="{FF2B5EF4-FFF2-40B4-BE49-F238E27FC236}">
                <a16:creationId xmlns:a16="http://schemas.microsoft.com/office/drawing/2014/main" id="{3F1FE186-2EE6-C67F-D084-F5999E9DEEBE}"/>
              </a:ext>
            </a:extLst>
          </p:cNvPr>
          <p:cNvPicPr>
            <a:picLocks noChangeAspect="1"/>
          </p:cNvPicPr>
          <p:nvPr/>
        </p:nvPicPr>
        <p:blipFill>
          <a:blip r:embed="rId8"/>
          <a:stretch>
            <a:fillRect/>
          </a:stretch>
        </p:blipFill>
        <p:spPr>
          <a:xfrm>
            <a:off x="2863809" y="3025264"/>
            <a:ext cx="2290763" cy="1314223"/>
          </a:xfrm>
          <a:prstGeom prst="rect">
            <a:avLst/>
          </a:prstGeom>
        </p:spPr>
      </p:pic>
      <p:pic>
        <p:nvPicPr>
          <p:cNvPr id="21" name="Imagen 20">
            <a:extLst>
              <a:ext uri="{FF2B5EF4-FFF2-40B4-BE49-F238E27FC236}">
                <a16:creationId xmlns:a16="http://schemas.microsoft.com/office/drawing/2014/main" id="{D3139197-10D2-1E5F-88DE-E2488BB52863}"/>
              </a:ext>
            </a:extLst>
          </p:cNvPr>
          <p:cNvPicPr>
            <a:picLocks noChangeAspect="1"/>
          </p:cNvPicPr>
          <p:nvPr/>
        </p:nvPicPr>
        <p:blipFill>
          <a:blip r:embed="rId9"/>
          <a:stretch>
            <a:fillRect/>
          </a:stretch>
        </p:blipFill>
        <p:spPr>
          <a:xfrm>
            <a:off x="5175355" y="3039119"/>
            <a:ext cx="2216046" cy="1271357"/>
          </a:xfrm>
          <a:prstGeom prst="rect">
            <a:avLst/>
          </a:prstGeom>
        </p:spPr>
      </p:pic>
      <p:pic>
        <p:nvPicPr>
          <p:cNvPr id="22" name="Imagen 21">
            <a:extLst>
              <a:ext uri="{FF2B5EF4-FFF2-40B4-BE49-F238E27FC236}">
                <a16:creationId xmlns:a16="http://schemas.microsoft.com/office/drawing/2014/main" id="{3CAEC59C-401D-F602-4547-5C506BF2B80A}"/>
              </a:ext>
            </a:extLst>
          </p:cNvPr>
          <p:cNvPicPr>
            <a:picLocks noChangeAspect="1"/>
          </p:cNvPicPr>
          <p:nvPr/>
        </p:nvPicPr>
        <p:blipFill>
          <a:blip r:embed="rId10"/>
          <a:stretch>
            <a:fillRect/>
          </a:stretch>
        </p:blipFill>
        <p:spPr>
          <a:xfrm>
            <a:off x="7372469" y="3045634"/>
            <a:ext cx="2076331" cy="1191202"/>
          </a:xfrm>
          <a:prstGeom prst="rect">
            <a:avLst/>
          </a:prstGeom>
        </p:spPr>
      </p:pic>
      <p:pic>
        <p:nvPicPr>
          <p:cNvPr id="23" name="Imagen 22">
            <a:extLst>
              <a:ext uri="{FF2B5EF4-FFF2-40B4-BE49-F238E27FC236}">
                <a16:creationId xmlns:a16="http://schemas.microsoft.com/office/drawing/2014/main" id="{3668823C-F2A2-1986-D810-F9F79798AE56}"/>
              </a:ext>
            </a:extLst>
          </p:cNvPr>
          <p:cNvPicPr>
            <a:picLocks noChangeAspect="1"/>
          </p:cNvPicPr>
          <p:nvPr/>
        </p:nvPicPr>
        <p:blipFill>
          <a:blip r:embed="rId11"/>
          <a:stretch>
            <a:fillRect/>
          </a:stretch>
        </p:blipFill>
        <p:spPr>
          <a:xfrm>
            <a:off x="9631432" y="3063077"/>
            <a:ext cx="2204692" cy="1264844"/>
          </a:xfrm>
          <a:prstGeom prst="rect">
            <a:avLst/>
          </a:prstGeom>
        </p:spPr>
      </p:pic>
    </p:spTree>
    <p:extLst>
      <p:ext uri="{BB962C8B-B14F-4D97-AF65-F5344CB8AC3E}">
        <p14:creationId xmlns:p14="http://schemas.microsoft.com/office/powerpoint/2010/main" val="146119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957</TotalTime>
  <Words>1394</Words>
  <Application>Microsoft Office PowerPoint</Application>
  <PresentationFormat>Panorámica</PresentationFormat>
  <Paragraphs>136</Paragraphs>
  <Slides>11</Slides>
  <Notes>2</Notes>
  <HiddenSlides>0</HiddenSlides>
  <MMClips>0</MMClips>
  <ScaleCrop>false</ScaleCrop>
  <HeadingPairs>
    <vt:vector size="4" baseType="variant">
      <vt:variant>
        <vt:lpstr>Tema</vt:lpstr>
      </vt:variant>
      <vt:variant>
        <vt:i4>1</vt:i4>
      </vt:variant>
      <vt:variant>
        <vt:lpstr>Títulos de diapositiva</vt:lpstr>
      </vt:variant>
      <vt:variant>
        <vt:i4>11</vt:i4>
      </vt:variant>
    </vt:vector>
  </HeadingPairs>
  <TitlesOfParts>
    <vt:vector size="12" baseType="lpstr">
      <vt:lpstr>Office Theme</vt:lpstr>
      <vt:lpstr>Presentación de PowerPoint</vt:lpstr>
      <vt:lpstr>Instructions General</vt:lpstr>
      <vt:lpstr>Learning outcome #1a – Perfectly 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Angela Toledo Jovani</cp:lastModifiedBy>
  <cp:revision>17</cp:revision>
  <dcterms:created xsi:type="dcterms:W3CDTF">2025-01-27T02:46:57Z</dcterms:created>
  <dcterms:modified xsi:type="dcterms:W3CDTF">2026-05-29T17:04:32Z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